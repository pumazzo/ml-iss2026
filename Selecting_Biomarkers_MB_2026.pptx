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2" r:id="rId4"/>
    <p:sldId id="269" r:id="rId5"/>
    <p:sldId id="282" r:id="rId6"/>
    <p:sldId id="266" r:id="rId7"/>
    <p:sldId id="257" r:id="rId8"/>
    <p:sldId id="258" r:id="rId9"/>
    <p:sldId id="273" r:id="rId10"/>
    <p:sldId id="279" r:id="rId11"/>
    <p:sldId id="280" r:id="rId12"/>
    <p:sldId id="272" r:id="rId13"/>
    <p:sldId id="286" r:id="rId14"/>
    <p:sldId id="281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8"/>
    <p:restoredTop sz="86651"/>
  </p:normalViewPr>
  <p:slideViewPr>
    <p:cSldViewPr snapToGrid="0">
      <p:cViewPr>
        <p:scale>
          <a:sx n="103" d="100"/>
          <a:sy n="103" d="100"/>
        </p:scale>
        <p:origin x="68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5C8E7-C254-F441-9D93-BEA23F2F006B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7A312-FD16-CA44-B4BC-92C25A4A6E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691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26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1921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3656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B0F3-EBE5-E06F-D304-C23F2857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D06A8C-6D57-EBC0-14C8-DE4791D56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AFC64FA-0507-4ADB-A3D7-EB9E1C2A2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1A2D1B-F19A-AEC0-57CC-2C8E1830B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9915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721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823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9195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52B9-F89E-BB49-45E0-8ABFA5A2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313E6C7-8128-E913-DCC6-F15ED7AA6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72DEF98-8981-8D18-EC34-BDD7156A6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45CD0A-C507-39C3-7B01-CE4417547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0645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6FB1-24AF-D5BC-9EEA-ECF0EB8A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D30ABBB-2511-AA95-5378-6DFF73108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C04EB8C-646E-D196-AD90-FF014F0D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F29254-BF36-C232-EDA8-3407F4EB2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5952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3226-35F9-C5C1-0A32-A7589F95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AE6D0F1-6D31-AFB8-F624-A64999B98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3321A75-2F48-E938-2DA9-4F3D3EF82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7B6A6A-652F-15B5-3507-29CC42942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7720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9240-B668-41A9-B5D5-328E3E08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3BCC8A-38AC-AA2B-8EDC-69C21D7FE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324752-F1B8-9BED-839C-3B2DE9BC7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BD7BBA-A94C-FA97-308E-1F6760389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3156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83C4-78C5-35C8-77F2-82D57FF7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118E9A-67D6-DE56-25E6-7CC47BAA4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78B28DF-4936-FCD0-E1DA-FE239CF00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7F7AED-D309-748D-DE7A-44AA07BC5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2763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3E67-3240-0530-7A61-CE029E57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E508730-D865-36BE-2423-D59E907C3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04C3CC5-9D69-E67F-6A86-32BA8146D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farlo in maniera sistematica usiamo una griglia di 200 valori di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 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 vanno da 10⁻³ a 10¹. È una scala logaritmica: copre modelli quasi non penalizzati e modelli estremamente penalizzati.</a:t>
            </a:r>
            <a:b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 applichiamo la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cross-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= 10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it-IT" dirty="0"/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Questo significa che dividiamo il dataset in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parti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 famosi “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”).</a:t>
            </a:r>
            <a:b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cross-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funziona così: dividiamo i dati in 10 parti, chiamiamole ‘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’. Per ogni valore di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 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alleniamo il modello su 9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lo testiamo sull’ultimo. Ripetiamo la procedura ruotando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poi facciamo la media degli errori. In questo modo stimiamo quanto bene il modello generalizza su dati realmente nuovi, non su quelli usati per l’allenamento. L’idea è semplice: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</a:t>
            </a:r>
            <a:r>
              <a:rPr lang="el-G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 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migliore è quello che sbaglia meno sui dati mai visti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 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ottimale = quello che dà l’errore più basso quando valutiamo il modello su dati nascosti durante l’allenamento.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A0D648-FA60-E01B-964E-3F0AB0E1C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A312-FD16-CA44-B4BC-92C25A4A6E9E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620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34182E-0BFC-59C2-2C3C-82958D3C3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9B9FE90-731B-073A-1D95-77058D12D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2A9D23-1C6C-8A91-F4DB-C4109BE2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0ECD68-BA55-FBC7-96AA-C7DAA201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F078EF-9C9D-B12F-C5F8-08CA53FC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891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22E7FB-DCD1-FE07-5E98-B27F6E58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1F3E1E-CEA8-2603-C20D-7924132A9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C694A8-1AD8-C652-DBA2-729F8D4E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FB2235-5400-3BC8-7B71-81B5A44B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D6060B-C909-3BB8-C435-5BA40561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80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A05BCB-5302-ECC0-4989-030F207E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26EE6B-A3A2-1F85-CB41-4BD881B8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1A1670-649D-3758-5889-86824F56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224210-588E-5586-1679-9F5DB32E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F8F2C7-6354-44EF-8AAF-6298D0DC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305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42D969-47A8-C360-A881-809C6F62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686926-6FF2-2AB9-8285-1182DF076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FAC47D-0828-016E-CE8C-03AB992CE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588496-84DE-247E-995D-6E9606A4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660DAC-D620-147B-9206-3CE88FAA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170C88-25E2-1A16-1B3F-3335D1A8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8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0103D2-042E-B61F-A0FC-3BC60C9A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E3A809-4FAC-72F1-8C4C-ADB6F38EB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AFE5F97-D402-8546-D723-C285C9049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35D8401-2DC9-2353-A654-1C5BB9AF7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BCA137D-ABAD-7EF6-2A8F-17C766125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4EA4D5D-5C25-9851-558B-F8E9F18E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36942F1-8E2A-D2CE-F08C-D3D8055F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D02072-FE08-4079-6CD9-CD6D6531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746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3DB6AD-31F0-D76F-2D3E-A8ED6BD8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DB4EDB-C8B8-8D2F-F45D-22D63099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AE520A4-5D7E-5170-1CC7-4B9BE97B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06ED389-75EE-4D0E-E848-FA0B3505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572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059EE49-ADDC-6C11-DEF1-B18E0D55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46A7EEA-F837-85FA-58B0-712D58CC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8E374C-6DC2-CF44-1972-F4423722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693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5128C2-FD99-7DCE-289A-CE692DFF8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5BDA7F-0EA8-FC1E-1F5C-053F68CBD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CD1C59-9AED-4A8A-B1C9-9063A89E2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EE30DB8-97E4-CA80-54F3-F1BAAAE8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8874CB-33DF-D477-933B-6281E43B8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AF84CE8-8051-8CF8-3BA1-965536CC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281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54735D-15F9-2367-8D2A-DAC8629D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6450893-ADF5-E7F7-6CD8-7A212B68E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E48B33-B6A5-8043-45B8-D6098E213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F29EA5C-35CD-1BAD-DC27-4C9C4D92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9769901-EED9-5C9C-BC27-24FFD53A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CB46E58-E25F-5575-A53F-8B5E569D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221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7CB846-5C2D-89AD-63A8-B07DE86D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71EB384-34E7-CCC3-A9CF-5933BD927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4ACD88-D3EF-3C7E-B2B4-D6F15922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BF1554-FDDA-8507-6784-EB4FD17F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ACA589-0DD7-E973-C394-A51A53F4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411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78E5A76-A900-7D8F-C915-2218464BD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9F2CC34-6FBA-891E-AE74-4BD35D59C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2EDE81-AF14-4236-2EC2-B3CDB3DA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B56A18-A38D-2483-939E-55B9FEAE0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382160-40B3-5053-10DC-38917459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592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288E525-5625-0B67-DF7F-DFEE9EA7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A0260F-15CF-9FA6-554F-CE34993F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D13259-48FB-CFF9-3054-7E79E3ADA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BCAE2-36B7-E946-8BC8-9388A652F765}" type="datetimeFigureOut">
              <a:rPr lang="it-IT" smtClean="0"/>
              <a:t>07/06/26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5C7F34-D171-F580-0F51-FEFF52163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A2057F-15B8-F192-CCE9-6BA261C75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40379-4951-3A49-B4CB-C485B1AC0A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13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4109434" y="3902217"/>
            <a:ext cx="3441600" cy="94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r">
              <a:spcBef>
                <a:spcPts val="0"/>
              </a:spcBef>
            </a:pPr>
            <a:r>
              <a:rPr lang="it-IT" dirty="0"/>
              <a:t>Benedetta Marcozzi</a:t>
            </a:r>
            <a:endParaRPr dirty="0"/>
          </a:p>
        </p:txBody>
      </p:sp>
      <p:sp>
        <p:nvSpPr>
          <p:cNvPr id="225" name="Google Shape;225;p15"/>
          <p:cNvSpPr/>
          <p:nvPr/>
        </p:nvSpPr>
        <p:spPr>
          <a:xfrm>
            <a:off x="3253221" y="889655"/>
            <a:ext cx="120457" cy="120457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6" name="Google Shape;226;p15"/>
          <p:cNvSpPr/>
          <p:nvPr/>
        </p:nvSpPr>
        <p:spPr>
          <a:xfrm>
            <a:off x="890649" y="1497708"/>
            <a:ext cx="120400" cy="120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7" name="Google Shape;227;p15"/>
          <p:cNvSpPr/>
          <p:nvPr/>
        </p:nvSpPr>
        <p:spPr>
          <a:xfrm>
            <a:off x="444783" y="3662352"/>
            <a:ext cx="120400" cy="120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8" name="Google Shape;228;p15"/>
          <p:cNvSpPr/>
          <p:nvPr/>
        </p:nvSpPr>
        <p:spPr>
          <a:xfrm>
            <a:off x="4866618" y="1618164"/>
            <a:ext cx="120457" cy="120457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9" name="Google Shape;229;p15"/>
          <p:cNvSpPr/>
          <p:nvPr/>
        </p:nvSpPr>
        <p:spPr>
          <a:xfrm>
            <a:off x="5709777" y="3038723"/>
            <a:ext cx="120457" cy="120457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30" name="Google Shape;230;p15"/>
          <p:cNvSpPr/>
          <p:nvPr/>
        </p:nvSpPr>
        <p:spPr>
          <a:xfrm>
            <a:off x="4721240" y="4891226"/>
            <a:ext cx="120457" cy="120457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" name="Google Shape;46;p15">
            <a:extLst>
              <a:ext uri="{FF2B5EF4-FFF2-40B4-BE49-F238E27FC236}">
                <a16:creationId xmlns:a16="http://schemas.microsoft.com/office/drawing/2014/main" id="{0CFEC65D-859E-6DC8-62CB-1749D4646CBA}"/>
              </a:ext>
            </a:extLst>
          </p:cNvPr>
          <p:cNvSpPr txBox="1">
            <a:spLocks/>
          </p:cNvSpPr>
          <p:nvPr/>
        </p:nvSpPr>
        <p:spPr>
          <a:xfrm>
            <a:off x="587491" y="1700126"/>
            <a:ext cx="11017017" cy="331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it-IT" sz="5000" dirty="0" err="1">
                <a:latin typeface="Calibri" panose="020F0502020204030204" pitchFamily="34" charset="0"/>
                <a:cs typeface="Calibri" panose="020F0502020204030204" pitchFamily="34" charset="0"/>
              </a:rPr>
              <a:t>Selecting</a:t>
            </a:r>
            <a:r>
              <a:rPr lang="it-IT" sz="50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it-IT" sz="5000" dirty="0" err="1"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5000" dirty="0" err="1">
                <a:latin typeface="Calibri" panose="020F0502020204030204" pitchFamily="34" charset="0"/>
                <a:cs typeface="Calibri" panose="020F0502020204030204" pitchFamily="34" charset="0"/>
              </a:rPr>
              <a:t>predictive</a:t>
            </a:r>
            <a:r>
              <a:rPr lang="it-IT" sz="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5000" dirty="0" err="1">
                <a:latin typeface="Calibri" panose="020F0502020204030204" pitchFamily="34" charset="0"/>
                <a:cs typeface="Calibri" panose="020F0502020204030204" pitchFamily="34" charset="0"/>
              </a:rPr>
              <a:t>biomarkers</a:t>
            </a:r>
            <a:r>
              <a:rPr lang="it-IT" sz="5000" dirty="0">
                <a:latin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it-IT" sz="5000" dirty="0" err="1">
                <a:latin typeface="Calibri" panose="020F0502020204030204" pitchFamily="34" charset="0"/>
                <a:cs typeface="Calibri" panose="020F0502020204030204" pitchFamily="34" charset="0"/>
              </a:rPr>
              <a:t>penalized</a:t>
            </a:r>
            <a:r>
              <a:rPr lang="it-IT" sz="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5000" dirty="0" err="1">
                <a:latin typeface="Calibri" panose="020F0502020204030204" pitchFamily="34" charset="0"/>
                <a:cs typeface="Calibri" panose="020F0502020204030204" pitchFamily="34" charset="0"/>
              </a:rPr>
              <a:t>regression</a:t>
            </a:r>
            <a:endParaRPr lang="it-IT" sz="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F1B1A3-285F-8FF2-0594-4D222DEA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r>
              <a:rPr lang="it-IT" sz="3500" dirty="0"/>
              <a:t>Perché usare la penalizzazione nei modelli di regressione?</a:t>
            </a:r>
          </a:p>
        </p:txBody>
      </p:sp>
      <p:sp>
        <p:nvSpPr>
          <p:cNvPr id="8" name="Google Shape;1739;p35">
            <a:extLst>
              <a:ext uri="{FF2B5EF4-FFF2-40B4-BE49-F238E27FC236}">
                <a16:creationId xmlns:a16="http://schemas.microsoft.com/office/drawing/2014/main" id="{37BDC605-7618-8781-39D1-A492C3AB48A6}"/>
              </a:ext>
            </a:extLst>
          </p:cNvPr>
          <p:cNvSpPr/>
          <p:nvPr/>
        </p:nvSpPr>
        <p:spPr>
          <a:xfrm>
            <a:off x="5860362" y="3673916"/>
            <a:ext cx="934576" cy="9611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E9FA4"/>
              </a:solidFill>
            </a:endParaRPr>
          </a:p>
        </p:txBody>
      </p:sp>
      <p:sp>
        <p:nvSpPr>
          <p:cNvPr id="9" name="Google Shape;1770;p35">
            <a:extLst>
              <a:ext uri="{FF2B5EF4-FFF2-40B4-BE49-F238E27FC236}">
                <a16:creationId xmlns:a16="http://schemas.microsoft.com/office/drawing/2014/main" id="{13BED97A-AAE8-C9B7-2585-0169C90F8009}"/>
              </a:ext>
            </a:extLst>
          </p:cNvPr>
          <p:cNvSpPr/>
          <p:nvPr/>
        </p:nvSpPr>
        <p:spPr>
          <a:xfrm>
            <a:off x="6096000" y="3941506"/>
            <a:ext cx="442028" cy="42596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60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F240-5571-F0D1-D6AC-D1A008DC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70;p35">
            <a:extLst>
              <a:ext uri="{FF2B5EF4-FFF2-40B4-BE49-F238E27FC236}">
                <a16:creationId xmlns:a16="http://schemas.microsoft.com/office/drawing/2014/main" id="{0A68F8DC-0B8A-6B5D-948D-DC0E572239B9}"/>
              </a:ext>
            </a:extLst>
          </p:cNvPr>
          <p:cNvSpPr/>
          <p:nvPr/>
        </p:nvSpPr>
        <p:spPr>
          <a:xfrm>
            <a:off x="6305189" y="3801186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40F98BAC-5B8A-08C2-D24B-FCC38A4F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62" y="380742"/>
            <a:ext cx="10515600" cy="748952"/>
          </a:xfrm>
        </p:spPr>
        <p:txBody>
          <a:bodyPr>
            <a:normAutofit/>
          </a:bodyPr>
          <a:lstStyle/>
          <a:p>
            <a:r>
              <a:rPr lang="it-IT" sz="2000" b="1" dirty="0"/>
              <a:t>Perché usare la penalizzazione nei modelli di regressione?</a:t>
            </a:r>
          </a:p>
        </p:txBody>
      </p:sp>
      <p:pic>
        <p:nvPicPr>
          <p:cNvPr id="30" name="Immagine 29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7F1F51A8-395C-708D-DDD4-B9941B2A3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23" t="28682" r="5220" b="42441"/>
          <a:stretch>
            <a:fillRect/>
          </a:stretch>
        </p:blipFill>
        <p:spPr>
          <a:xfrm>
            <a:off x="7459031" y="2916479"/>
            <a:ext cx="2521909" cy="1769413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3EC0AC2-B7D2-5D83-7CD1-EB5184495874}"/>
              </a:ext>
            </a:extLst>
          </p:cNvPr>
          <p:cNvSpPr txBox="1"/>
          <p:nvPr/>
        </p:nvSpPr>
        <p:spPr>
          <a:xfrm>
            <a:off x="3268041" y="1742862"/>
            <a:ext cx="2213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Molti biomarcatori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10906850-3006-12CC-84F4-76550617388A}"/>
              </a:ext>
            </a:extLst>
          </p:cNvPr>
          <p:cNvSpPr txBox="1"/>
          <p:nvPr/>
        </p:nvSpPr>
        <p:spPr>
          <a:xfrm>
            <a:off x="7756803" y="1742862"/>
            <a:ext cx="1782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Pochi soggetti </a:t>
            </a:r>
          </a:p>
        </p:txBody>
      </p:sp>
      <p:pic>
        <p:nvPicPr>
          <p:cNvPr id="2" name="Immagine 1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B5C04B8-53F9-FAE0-AE92-07DE735AD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78" t="23692" r="53010" b="26260"/>
          <a:stretch>
            <a:fillRect/>
          </a:stretch>
        </p:blipFill>
        <p:spPr>
          <a:xfrm>
            <a:off x="1630017" y="2483792"/>
            <a:ext cx="2650435" cy="3365771"/>
          </a:xfrm>
          <a:prstGeom prst="rect">
            <a:avLst/>
          </a:prstGeom>
        </p:spPr>
      </p:pic>
      <p:pic>
        <p:nvPicPr>
          <p:cNvPr id="3" name="Immagine 2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01E4A17E-9263-FB3A-89E3-6DC68FEB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78" t="23692" r="53010" b="26260"/>
          <a:stretch>
            <a:fillRect/>
          </a:stretch>
        </p:blipFill>
        <p:spPr>
          <a:xfrm>
            <a:off x="4280452" y="2483792"/>
            <a:ext cx="2650435" cy="3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4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66DA0-6FBC-6135-8FD5-68C8A842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70;p35">
            <a:extLst>
              <a:ext uri="{FF2B5EF4-FFF2-40B4-BE49-F238E27FC236}">
                <a16:creationId xmlns:a16="http://schemas.microsoft.com/office/drawing/2014/main" id="{C38046F0-A311-B055-4A92-567AAE27AFAB}"/>
              </a:ext>
            </a:extLst>
          </p:cNvPr>
          <p:cNvSpPr/>
          <p:nvPr/>
        </p:nvSpPr>
        <p:spPr>
          <a:xfrm>
            <a:off x="5665332" y="39035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DB98727-B496-ED37-26F6-3B35EA879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02" y="1058792"/>
            <a:ext cx="1088857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La regressione lineare tradizionale diventa poco affidabile quando il numero di biomarcatori è molto alto.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1. Variabili non-informative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non sono correlate all’</a:t>
            </a:r>
            <a:r>
              <a:rPr lang="it-IT" altLang="it-IT" dirty="0" err="1">
                <a:solidFill>
                  <a:srgbClr val="000000"/>
                </a:solidFill>
              </a:rPr>
              <a:t>outcome</a:t>
            </a:r>
            <a:r>
              <a:rPr lang="it-IT" altLang="it-IT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riducono la capacità predittiva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2. Variabili ridondanti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molte feature «dicono la stessa cosa»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modelli più complessi e instabili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3. Instabilità dei coefficienti (</a:t>
            </a:r>
            <a:r>
              <a:rPr lang="it-IT" altLang="it-IT" dirty="0" err="1">
                <a:solidFill>
                  <a:srgbClr val="000000"/>
                </a:solidFill>
              </a:rPr>
              <a:t>p</a:t>
            </a:r>
            <a:r>
              <a:rPr lang="it-IT" altLang="it-IT" dirty="0">
                <a:solidFill>
                  <a:srgbClr val="000000"/>
                </a:solidFill>
              </a:rPr>
              <a:t> &gt;&gt; </a:t>
            </a:r>
            <a:r>
              <a:rPr lang="it-IT" altLang="it-IT" dirty="0" err="1">
                <a:solidFill>
                  <a:srgbClr val="000000"/>
                </a:solidFill>
              </a:rPr>
              <a:t>n</a:t>
            </a:r>
            <a:r>
              <a:rPr lang="it-IT" altLang="it-IT" dirty="0">
                <a:solidFill>
                  <a:srgbClr val="000000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pochi soggetti e molte variabili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piccole variazioni nei dati portano a grandi variazioni nei coefficienti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il modello diventa poco robusto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C5DF38-4C68-80FD-30BA-C7F493E6E645}"/>
              </a:ext>
            </a:extLst>
          </p:cNvPr>
          <p:cNvSpPr txBox="1"/>
          <p:nvPr/>
        </p:nvSpPr>
        <p:spPr>
          <a:xfrm>
            <a:off x="611102" y="597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b="1" dirty="0">
                <a:solidFill>
                  <a:srgbClr val="000000"/>
                </a:solidFill>
              </a:rPr>
              <a:t>Avere molti biomarcatori è un problema?</a:t>
            </a:r>
          </a:p>
        </p:txBody>
      </p:sp>
    </p:spTree>
    <p:extLst>
      <p:ext uri="{BB962C8B-B14F-4D97-AF65-F5344CB8AC3E}">
        <p14:creationId xmlns:p14="http://schemas.microsoft.com/office/powerpoint/2010/main" val="427511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A5691-AA3C-1357-0F51-096FDC64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70;p35">
            <a:extLst>
              <a:ext uri="{FF2B5EF4-FFF2-40B4-BE49-F238E27FC236}">
                <a16:creationId xmlns:a16="http://schemas.microsoft.com/office/drawing/2014/main" id="{58117A09-5BF2-B864-5910-4BC0E8417F04}"/>
              </a:ext>
            </a:extLst>
          </p:cNvPr>
          <p:cNvSpPr/>
          <p:nvPr/>
        </p:nvSpPr>
        <p:spPr>
          <a:xfrm>
            <a:off x="5665332" y="39035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CA956FC-A5C5-AEDB-1680-79F9D14663CE}"/>
              </a:ext>
            </a:extLst>
          </p:cNvPr>
          <p:cNvSpPr txBox="1"/>
          <p:nvPr/>
        </p:nvSpPr>
        <p:spPr>
          <a:xfrm>
            <a:off x="611102" y="597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b="1" dirty="0">
                <a:solidFill>
                  <a:srgbClr val="000000"/>
                </a:solidFill>
              </a:rPr>
              <a:t>Avere molti biomarcatori è un problema?</a:t>
            </a:r>
          </a:p>
        </p:txBody>
      </p:sp>
      <p:sp>
        <p:nvSpPr>
          <p:cNvPr id="2" name="Freccia giù 1">
            <a:extLst>
              <a:ext uri="{FF2B5EF4-FFF2-40B4-BE49-F238E27FC236}">
                <a16:creationId xmlns:a16="http://schemas.microsoft.com/office/drawing/2014/main" id="{30642F6A-98AD-8385-41C6-D5DE2D46F2C3}"/>
              </a:ext>
            </a:extLst>
          </p:cNvPr>
          <p:cNvSpPr/>
          <p:nvPr/>
        </p:nvSpPr>
        <p:spPr>
          <a:xfrm rot="16200000">
            <a:off x="3399874" y="5863402"/>
            <a:ext cx="203200" cy="59085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1810B2-628C-669B-1C33-D816312FAC0C}"/>
              </a:ext>
            </a:extLst>
          </p:cNvPr>
          <p:cNvSpPr txBox="1"/>
          <p:nvPr/>
        </p:nvSpPr>
        <p:spPr>
          <a:xfrm>
            <a:off x="4069920" y="59741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b="1" dirty="0" err="1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verfitting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 scarsa capacità predittiva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DF103A-3533-46C1-4111-330425080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02" y="1058792"/>
            <a:ext cx="1088857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La regressione lineare tradizionale diventa poco affidabile quando il numero di biomarcatori è molto alto.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1. Variabili non-informative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non sono correlate all’</a:t>
            </a:r>
            <a:r>
              <a:rPr lang="it-IT" altLang="it-IT" dirty="0" err="1">
                <a:solidFill>
                  <a:srgbClr val="000000"/>
                </a:solidFill>
              </a:rPr>
              <a:t>outcome</a:t>
            </a:r>
            <a:r>
              <a:rPr lang="it-IT" altLang="it-IT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riducono la capacità predittiva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2. Variabili ridondanti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molte feature «dicono la stessa cosa»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modelli più complessi e instabili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solidFill>
                  <a:srgbClr val="000000"/>
                </a:solidFill>
              </a:rPr>
              <a:t>3. Instabilità dei coefficienti (</a:t>
            </a:r>
            <a:r>
              <a:rPr lang="it-IT" altLang="it-IT" dirty="0" err="1">
                <a:solidFill>
                  <a:srgbClr val="000000"/>
                </a:solidFill>
              </a:rPr>
              <a:t>p</a:t>
            </a:r>
            <a:r>
              <a:rPr lang="it-IT" altLang="it-IT" dirty="0">
                <a:solidFill>
                  <a:srgbClr val="000000"/>
                </a:solidFill>
              </a:rPr>
              <a:t> &gt;&gt; </a:t>
            </a:r>
            <a:r>
              <a:rPr lang="it-IT" altLang="it-IT" dirty="0" err="1">
                <a:solidFill>
                  <a:srgbClr val="000000"/>
                </a:solidFill>
              </a:rPr>
              <a:t>n</a:t>
            </a:r>
            <a:r>
              <a:rPr lang="it-IT" altLang="it-IT" dirty="0">
                <a:solidFill>
                  <a:srgbClr val="000000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pochi soggetti e molte variabili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piccole variazioni nei dati portano a grandi variazioni nei coefficienti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it-IT" dirty="0">
                <a:solidFill>
                  <a:srgbClr val="000000"/>
                </a:solidFill>
              </a:rPr>
              <a:t>il modello diventa poco robusto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5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18F9-F2D4-A676-3E88-25685AC4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70;p35">
            <a:extLst>
              <a:ext uri="{FF2B5EF4-FFF2-40B4-BE49-F238E27FC236}">
                <a16:creationId xmlns:a16="http://schemas.microsoft.com/office/drawing/2014/main" id="{43AEFEF5-D49A-0C48-6979-DC69E6620B19}"/>
              </a:ext>
            </a:extLst>
          </p:cNvPr>
          <p:cNvSpPr/>
          <p:nvPr/>
        </p:nvSpPr>
        <p:spPr>
          <a:xfrm>
            <a:off x="5665332" y="39035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magine 2" descr="Immagine che contiene linea, Diagramm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3730BF33-FCA2-A73E-1C5C-AA71E26E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46" r="559"/>
          <a:stretch>
            <a:fillRect/>
          </a:stretch>
        </p:blipFill>
        <p:spPr>
          <a:xfrm>
            <a:off x="1405246" y="2638342"/>
            <a:ext cx="9300291" cy="326134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F27C244-C78C-FC2B-E8E4-D03A198C5945}"/>
              </a:ext>
            </a:extLst>
          </p:cNvPr>
          <p:cNvSpPr txBox="1"/>
          <p:nvPr/>
        </p:nvSpPr>
        <p:spPr>
          <a:xfrm>
            <a:off x="962442" y="1515387"/>
            <a:ext cx="9405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Quando due biomarcatori sono molto correlati portano la stessa informazione.</a:t>
            </a:r>
            <a:br>
              <a:rPr lang="it-IT" dirty="0"/>
            </a:br>
            <a:r>
              <a:rPr lang="it-IT" dirty="0"/>
              <a:t>La regressione lineare non riesce a distinguere quale usare, e i coefficienti diventano instabili.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2EEFF89-EDAC-99D6-515E-12E12CEB0179}"/>
              </a:ext>
            </a:extLst>
          </p:cNvPr>
          <p:cNvSpPr txBox="1"/>
          <p:nvPr/>
        </p:nvSpPr>
        <p:spPr>
          <a:xfrm>
            <a:off x="611102" y="597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b="1" dirty="0">
                <a:solidFill>
                  <a:srgbClr val="000000"/>
                </a:solidFill>
              </a:rPr>
              <a:t>Avere molti biomarcatori è un problema?</a:t>
            </a:r>
          </a:p>
        </p:txBody>
      </p:sp>
    </p:spTree>
    <p:extLst>
      <p:ext uri="{BB962C8B-B14F-4D97-AF65-F5344CB8AC3E}">
        <p14:creationId xmlns:p14="http://schemas.microsoft.com/office/powerpoint/2010/main" val="76454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DB623DA-33A6-254C-04EA-A97BFF685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12"/>
          <a:stretch>
            <a:fillRect/>
          </a:stretch>
        </p:blipFill>
        <p:spPr>
          <a:xfrm>
            <a:off x="1198103" y="1753850"/>
            <a:ext cx="4440905" cy="419165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CCEFF3B-391C-D615-83BA-560028FD2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690" y="936019"/>
            <a:ext cx="2806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89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3576-0713-35A4-1536-928A295B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2F0A7EC2-F48A-58CB-10B6-58BE2D438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35"/>
          <a:stretch>
            <a:fillRect/>
          </a:stretch>
        </p:blipFill>
        <p:spPr>
          <a:xfrm>
            <a:off x="6616629" y="1753850"/>
            <a:ext cx="4620787" cy="4300337"/>
          </a:xfrm>
          <a:prstGeom prst="rect">
            <a:avLst/>
          </a:prstGeom>
        </p:spPr>
      </p:pic>
      <p:cxnSp>
        <p:nvCxnSpPr>
          <p:cNvPr id="8" name="Connettore diritto a freccia 7">
            <a:extLst>
              <a:ext uri="{FF2B5EF4-FFF2-40B4-BE49-F238E27FC236}">
                <a16:creationId xmlns:a16="http://schemas.microsoft.com/office/drawing/2014/main" id="{17BF985E-07BA-56E7-FF6B-BAE1138B4691}"/>
              </a:ext>
            </a:extLst>
          </p:cNvPr>
          <p:cNvCxnSpPr>
            <a:cxnSpLocks/>
          </p:cNvCxnSpPr>
          <p:nvPr/>
        </p:nvCxnSpPr>
        <p:spPr>
          <a:xfrm>
            <a:off x="5835685" y="3837482"/>
            <a:ext cx="52062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CFA2C62B-20D0-2F29-DCCE-35CB1813D5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12"/>
          <a:stretch>
            <a:fillRect/>
          </a:stretch>
        </p:blipFill>
        <p:spPr>
          <a:xfrm>
            <a:off x="1198103" y="1753850"/>
            <a:ext cx="4440905" cy="419165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15B3A45-5FF1-7A3C-8AE8-BF05BBD60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690" y="936019"/>
            <a:ext cx="2806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71BA-BAAE-9742-3001-5D5C4EBA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bianco, testo, tipografia&#10;&#10;Il contenuto generato dall'IA potrebbe non essere corretto.">
            <a:extLst>
              <a:ext uri="{FF2B5EF4-FFF2-40B4-BE49-F238E27FC236}">
                <a16:creationId xmlns:a16="http://schemas.microsoft.com/office/drawing/2014/main" id="{48C317F2-168E-8B20-052A-40CCFAF2E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4438650"/>
            <a:ext cx="3619500" cy="72390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3BD37B8-8765-F88E-0175-98304A20AFAE}"/>
              </a:ext>
            </a:extLst>
          </p:cNvPr>
          <p:cNvSpPr txBox="1"/>
          <p:nvPr/>
        </p:nvSpPr>
        <p:spPr>
          <a:xfrm>
            <a:off x="1362075" y="1886515"/>
            <a:ext cx="9467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Effetto della penalità L1 – Lasso </a:t>
            </a:r>
            <a:r>
              <a:rPr lang="it-IT" sz="2000" dirty="0"/>
              <a:t>(</a:t>
            </a:r>
            <a:r>
              <a:rPr lang="it-IT" dirty="0" err="1"/>
              <a:t>Least</a:t>
            </a:r>
            <a:r>
              <a:rPr lang="it-IT" dirty="0"/>
              <a:t> Absolute </a:t>
            </a:r>
            <a:r>
              <a:rPr lang="it-IT" dirty="0" err="1"/>
              <a:t>Shrinkage</a:t>
            </a:r>
            <a:r>
              <a:rPr lang="it-IT" dirty="0"/>
              <a:t> and </a:t>
            </a:r>
            <a:r>
              <a:rPr lang="it-IT" dirty="0" err="1"/>
              <a:t>Selection</a:t>
            </a:r>
            <a:r>
              <a:rPr lang="it-IT" dirty="0"/>
              <a:t> Operator)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/>
              <a:t>La penalità L1 spinge alcuni coefficienti esattamente a zero.</a:t>
            </a:r>
          </a:p>
          <a:p>
            <a:r>
              <a:rPr lang="it-IT" sz="2000" dirty="0"/>
              <a:t>Il modello sceglie quali variabili tenere e quali eliminare:</a:t>
            </a:r>
          </a:p>
          <a:p>
            <a:r>
              <a:rPr lang="it-IT" sz="2000" dirty="0"/>
              <a:t>restano solo quelle che contribuiscono davvero alla predizione.</a:t>
            </a:r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420000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D579-BB14-5C61-65A3-CD4FF0D1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egnaposto contenuto 2" descr="Immagine che contiene Carattere, testo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D1DCE043-4362-DB37-BA7D-CC829B3D5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22748" y="4296117"/>
            <a:ext cx="3365500" cy="723900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6F35C77-8C4C-4FA0-2D73-4E2FBF69A8FF}"/>
              </a:ext>
            </a:extLst>
          </p:cNvPr>
          <p:cNvSpPr txBox="1"/>
          <p:nvPr/>
        </p:nvSpPr>
        <p:spPr>
          <a:xfrm>
            <a:off x="1257729" y="1837983"/>
            <a:ext cx="967654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Effetto della penalità L2 – Ridge </a:t>
            </a:r>
          </a:p>
          <a:p>
            <a:endParaRPr lang="it-IT" b="1" dirty="0"/>
          </a:p>
          <a:p>
            <a:endParaRPr lang="it-IT" b="1" dirty="0"/>
          </a:p>
          <a:p>
            <a:r>
              <a:rPr lang="it-IT" sz="2000" dirty="0"/>
              <a:t>La penalità L2 non annulla i coefficienti, ma li riduce.</a:t>
            </a:r>
          </a:p>
          <a:p>
            <a:r>
              <a:rPr lang="it-IT" sz="2000" dirty="0"/>
              <a:t>Nessuna variabile viene eliminata, ma nessuna può “dominare” con un coefficiente troppo grande.</a:t>
            </a:r>
          </a:p>
        </p:txBody>
      </p:sp>
    </p:spTree>
    <p:extLst>
      <p:ext uri="{BB962C8B-B14F-4D97-AF65-F5344CB8AC3E}">
        <p14:creationId xmlns:p14="http://schemas.microsoft.com/office/powerpoint/2010/main" val="148038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B189-EDF3-E26C-2728-F3488BF0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Carattere, bianco, testo, tipografia&#10;&#10;Il contenuto generato dall'IA potrebbe non essere corretto.">
            <a:extLst>
              <a:ext uri="{FF2B5EF4-FFF2-40B4-BE49-F238E27FC236}">
                <a16:creationId xmlns:a16="http://schemas.microsoft.com/office/drawing/2014/main" id="{2EF5B5C2-90FE-BD0C-2FE0-FDB3793DA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0" y="4190560"/>
            <a:ext cx="4838700" cy="7239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127BD94-744A-CA86-15BE-82363F20E209}"/>
              </a:ext>
            </a:extLst>
          </p:cNvPr>
          <p:cNvSpPr txBox="1"/>
          <p:nvPr/>
        </p:nvSpPr>
        <p:spPr>
          <a:xfrm>
            <a:off x="1005765" y="1674674"/>
            <a:ext cx="101804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/>
              <a:t>Elastic</a:t>
            </a:r>
            <a:r>
              <a:rPr lang="it-IT" sz="2000" b="1" dirty="0"/>
              <a:t> Net combina gli effetti di L1 e L2</a:t>
            </a:r>
          </a:p>
          <a:p>
            <a:endParaRPr lang="it-I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la parte L1 può mettere a zero i coefficienti (selezione di variabili)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la parte L2 stabilizza il modello quando le variabili sono correlate</a:t>
            </a:r>
          </a:p>
          <a:p>
            <a:r>
              <a:rPr lang="it-IT" sz="2000" dirty="0"/>
              <a:t>Il risultato è un modello che seleziona le variabili più utili, ma allo stesso tempo rimane stabile anche in presenza di biomarcatori fortemente correlati.</a:t>
            </a:r>
          </a:p>
        </p:txBody>
      </p:sp>
    </p:spTree>
    <p:extLst>
      <p:ext uri="{BB962C8B-B14F-4D97-AF65-F5344CB8AC3E}">
        <p14:creationId xmlns:p14="http://schemas.microsoft.com/office/powerpoint/2010/main" val="300542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8113-9A3B-5447-6A32-4F477E7A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B9F9EA-7B2D-87E7-7749-8D1C4AB3F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268" y="3001269"/>
            <a:ext cx="5638801" cy="671322"/>
          </a:xfrm>
        </p:spPr>
        <p:txBody>
          <a:bodyPr/>
          <a:lstStyle/>
          <a:p>
            <a:pPr marL="0" indent="0">
              <a:buNone/>
            </a:pPr>
            <a:r>
              <a:rPr lang="it-IT" sz="3500" dirty="0">
                <a:latin typeface="+mj-lt"/>
              </a:rPr>
              <a:t>Vediamo un esempio pratico!</a:t>
            </a:r>
          </a:p>
        </p:txBody>
      </p:sp>
      <p:sp>
        <p:nvSpPr>
          <p:cNvPr id="4" name="Google Shape;1770;p35">
            <a:extLst>
              <a:ext uri="{FF2B5EF4-FFF2-40B4-BE49-F238E27FC236}">
                <a16:creationId xmlns:a16="http://schemas.microsoft.com/office/drawing/2014/main" id="{D8B6193C-77CA-D3FC-13D0-2848169849FE}"/>
              </a:ext>
            </a:extLst>
          </p:cNvPr>
          <p:cNvSpPr/>
          <p:nvPr/>
        </p:nvSpPr>
        <p:spPr>
          <a:xfrm>
            <a:off x="6096000" y="3941506"/>
            <a:ext cx="442028" cy="42596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350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417F-6677-9257-A450-A0B0EFDB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000EAA-33B9-18F2-609C-A07810949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1918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sz="3500" dirty="0">
                <a:latin typeface="+mj-lt"/>
              </a:rPr>
              <a:t>Come scegliere il parametro della penalizzazione?</a:t>
            </a:r>
          </a:p>
        </p:txBody>
      </p:sp>
      <p:sp>
        <p:nvSpPr>
          <p:cNvPr id="2" name="Google Shape;1739;p35">
            <a:extLst>
              <a:ext uri="{FF2B5EF4-FFF2-40B4-BE49-F238E27FC236}">
                <a16:creationId xmlns:a16="http://schemas.microsoft.com/office/drawing/2014/main" id="{3169CF01-A6A5-5ACF-9B70-362DFC27F8B2}"/>
              </a:ext>
            </a:extLst>
          </p:cNvPr>
          <p:cNvSpPr/>
          <p:nvPr/>
        </p:nvSpPr>
        <p:spPr>
          <a:xfrm>
            <a:off x="5860362" y="3673916"/>
            <a:ext cx="934576" cy="9611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E9FA4"/>
              </a:solidFill>
            </a:endParaRPr>
          </a:p>
        </p:txBody>
      </p:sp>
      <p:sp>
        <p:nvSpPr>
          <p:cNvPr id="4" name="Google Shape;1770;p35">
            <a:extLst>
              <a:ext uri="{FF2B5EF4-FFF2-40B4-BE49-F238E27FC236}">
                <a16:creationId xmlns:a16="http://schemas.microsoft.com/office/drawing/2014/main" id="{9781A813-495D-E8FC-2372-8F38A69DB4F0}"/>
              </a:ext>
            </a:extLst>
          </p:cNvPr>
          <p:cNvSpPr/>
          <p:nvPr/>
        </p:nvSpPr>
        <p:spPr>
          <a:xfrm>
            <a:off x="6096000" y="3941506"/>
            <a:ext cx="442028" cy="42596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39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A780-20FB-FEC1-9566-7BD022EB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FE156315-A59B-9CEF-BC2D-B9C98FE14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9817" y="1096247"/>
            <a:ext cx="6191601" cy="5304553"/>
          </a:xfr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680DD23-5E73-2CF8-4DC1-98B0DF668B73}"/>
              </a:ext>
            </a:extLst>
          </p:cNvPr>
          <p:cNvSpPr txBox="1"/>
          <p:nvPr/>
        </p:nvSpPr>
        <p:spPr>
          <a:xfrm>
            <a:off x="629587" y="457200"/>
            <a:ext cx="4174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 </a:t>
            </a:r>
            <a:r>
              <a:rPr lang="it-IT" sz="2000" b="1" dirty="0"/>
              <a:t>k-</a:t>
            </a:r>
            <a:r>
              <a:rPr lang="it-IT" sz="2000" b="1" dirty="0" err="1"/>
              <a:t>fold</a:t>
            </a:r>
            <a:r>
              <a:rPr lang="it-IT" sz="2000" b="1" dirty="0"/>
              <a:t> cross-</a:t>
            </a:r>
            <a:r>
              <a:rPr lang="it-IT" sz="2000" b="1" dirty="0" err="1"/>
              <a:t>validation</a:t>
            </a:r>
            <a:r>
              <a:rPr lang="it-IT" sz="2000" dirty="0"/>
              <a:t>, con </a:t>
            </a:r>
            <a:r>
              <a:rPr lang="it-IT" sz="2000" b="1" dirty="0"/>
              <a:t>k = 10</a:t>
            </a:r>
            <a:r>
              <a:rPr lang="it-IT" sz="2000" dirty="0"/>
              <a:t>.</a:t>
            </a:r>
            <a:br>
              <a:rPr lang="it-IT" sz="2000" dirty="0"/>
            </a:b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296525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30c7fd-6616-4b62-ad83-b574b27d5912}" enabled="0" method="" siteId="{cf30c7fd-6616-4b62-ad83-b574b27d59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43304</TotalTime>
  <Words>580</Words>
  <Application>Microsoft Macintosh PowerPoint</Application>
  <PresentationFormat>Widescreen</PresentationFormat>
  <Paragraphs>77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di Office</vt:lpstr>
      <vt:lpstr>Presentazione standard di PowerPoint</vt:lpstr>
      <vt:lpstr>Perché usare la penalizzazione nei modelli di regressione?</vt:lpstr>
      <vt:lpstr>Perché usare la penalizzazione nei modelli di regressione?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Benedetta Marcozzi</dc:creator>
  <cp:lastModifiedBy>Benedetta Marcozzi</cp:lastModifiedBy>
  <cp:revision>26</cp:revision>
  <dcterms:created xsi:type="dcterms:W3CDTF">2025-11-07T10:03:06Z</dcterms:created>
  <dcterms:modified xsi:type="dcterms:W3CDTF">2026-06-30T16:30:00Z</dcterms:modified>
</cp:coreProperties>
</file>